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1" r:id="rId5"/>
  </p:sldMasterIdLst>
  <p:notesMasterIdLst>
    <p:notesMasterId r:id="rId14"/>
  </p:notesMasterIdLst>
  <p:sldIdLst>
    <p:sldId id="688" r:id="rId6"/>
    <p:sldId id="689" r:id="rId7"/>
    <p:sldId id="694" r:id="rId8"/>
    <p:sldId id="690" r:id="rId9"/>
    <p:sldId id="691" r:id="rId10"/>
    <p:sldId id="692" r:id="rId11"/>
    <p:sldId id="693" r:id="rId12"/>
    <p:sldId id="695" r:id="rId13"/>
  </p:sldIdLst>
  <p:sldSz cx="11430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-7" userDrawn="1">
          <p15:clr>
            <a:srgbClr val="A4A3A4"/>
          </p15:clr>
        </p15:guide>
        <p15:guide id="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Shah1" initials="KS" lastIdx="17" clrIdx="0"/>
  <p:cmAuthor id="2" name="sachin.jain@bennett.edu.in" initials="s" lastIdx="44" clrIdx="1"/>
  <p:cmAuthor id="3" name="Prayag Padwal" initials="PP" lastIdx="12" clrIdx="2"/>
  <p:cmAuthor id="4" name="kapil.gaba" initials="k" lastIdx="7" clrIdx="3"/>
  <p:cmAuthor id="5" name="Kapil Gaba" initials="KG" lastIdx="44" clrIdx="4"/>
  <p:cmAuthor id="6" name="Sachin Jain" initials="SJ" lastIdx="5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242F"/>
    <a:srgbClr val="4D4D4D"/>
    <a:srgbClr val="FF5C29"/>
    <a:srgbClr val="A9D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037" y="48"/>
      </p:cViewPr>
      <p:guideLst>
        <p:guide orient="horz" pos="-7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DF63D-6310-4FA3-AE36-2EE96B6C153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17C9-8EC7-4203-BC85-C94ECA1CC63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050"/>
            <a:ext cx="3760392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2" y="273054"/>
            <a:ext cx="638968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1435103"/>
            <a:ext cx="3760392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361" y="4800600"/>
            <a:ext cx="68580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40361" y="612775"/>
            <a:ext cx="68580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361" y="5367338"/>
            <a:ext cx="68580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102870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1600204"/>
            <a:ext cx="102870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3704" y="274642"/>
            <a:ext cx="3085702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6594" y="274642"/>
            <a:ext cx="906661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787301" y="457200"/>
            <a:ext cx="368647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4859238" y="987426"/>
            <a:ext cx="5786438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787301" y="2057401"/>
            <a:ext cx="368647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571500" lvl="0" indent="-2857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1pPr>
            <a:lvl2pPr marL="1143000" lvl="1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375"/>
            </a:lvl2pPr>
            <a:lvl3pPr marL="17145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125"/>
            </a:lvl3pPr>
            <a:lvl4pPr marL="22860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4pPr>
            <a:lvl5pPr marL="28575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5pPr>
            <a:lvl6pPr marL="3429000" lvl="5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6pPr>
            <a:lvl7pPr marL="4000500" lvl="6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7pPr>
            <a:lvl8pPr marL="4572000" lvl="7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8pPr>
            <a:lvl9pPr marL="5143500" lvl="8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785813" y="6356351"/>
            <a:ext cx="2571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786188" y="6356351"/>
            <a:ext cx="3857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8072438" y="6356351"/>
            <a:ext cx="2571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9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2130425"/>
            <a:ext cx="97155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886200"/>
            <a:ext cx="80010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4406900"/>
            <a:ext cx="97155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3288" y="2906713"/>
            <a:ext cx="97155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600200"/>
            <a:ext cx="50673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91200" y="1600200"/>
            <a:ext cx="50673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535113"/>
            <a:ext cx="50498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2174875"/>
            <a:ext cx="50498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7075" y="1535113"/>
            <a:ext cx="50514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7075" y="2174875"/>
            <a:ext cx="50514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050"/>
            <a:ext cx="376078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3" y="273050"/>
            <a:ext cx="638968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1435100"/>
            <a:ext cx="376078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963" y="4800600"/>
            <a:ext cx="68580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39963" y="612775"/>
            <a:ext cx="68580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963" y="5367338"/>
            <a:ext cx="68580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86750" y="274638"/>
            <a:ext cx="25717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74638"/>
            <a:ext cx="7562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 Page.jpg"/>
          <p:cNvPicPr>
            <a:picLocks noChangeAspect="1"/>
          </p:cNvPicPr>
          <p:nvPr userDrawn="1"/>
        </p:nvPicPr>
        <p:blipFill>
          <a:blip r:embed="rId14" cstate="screen"/>
          <a:srcRect/>
          <a:stretch>
            <a:fillRect/>
          </a:stretch>
        </p:blipFill>
        <p:spPr>
          <a:xfrm>
            <a:off x="0" y="0"/>
            <a:ext cx="11430000" cy="941746"/>
          </a:xfrm>
          <a:prstGeom prst="rect">
            <a:avLst/>
          </a:prstGeom>
        </p:spPr>
      </p:pic>
      <p:pic>
        <p:nvPicPr>
          <p:cNvPr id="8" name="Picture 7" descr="Master Page.jpg"/>
          <p:cNvPicPr>
            <a:picLocks noChangeAspect="1"/>
          </p:cNvPicPr>
          <p:nvPr userDrawn="1"/>
        </p:nvPicPr>
        <p:blipFill rotWithShape="1">
          <a:blip r:embed="rId15" cstate="screen"/>
          <a:srcRect l="26990"/>
          <a:stretch>
            <a:fillRect/>
          </a:stretch>
        </p:blipFill>
        <p:spPr>
          <a:xfrm>
            <a:off x="4343400" y="6473347"/>
            <a:ext cx="7086600" cy="381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 cstate="email"/>
          <a:stretch>
            <a:fillRect/>
          </a:stretch>
        </p:blipFill>
        <p:spPr>
          <a:xfrm>
            <a:off x="8653468" y="76208"/>
            <a:ext cx="2590800" cy="865538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572000" y="6524624"/>
            <a:ext cx="2856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2</a:t>
            </a:r>
            <a:r>
              <a:rPr lang="en-IN" sz="1200" baseline="30000">
                <a:solidFill>
                  <a:schemeClr val="bg1"/>
                </a:solidFill>
              </a:rPr>
              <a:t>nd</a:t>
            </a:r>
            <a:r>
              <a:rPr lang="en-IN" sz="1200">
                <a:solidFill>
                  <a:schemeClr val="bg1"/>
                </a:solidFill>
              </a:rPr>
              <a:t> Annual Convocation – 01 October 2020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10287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600200"/>
            <a:ext cx="10287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5250" y="6356350"/>
            <a:ext cx="3619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915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0B232-DD7F-42AA-A6BE-FC69144049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5430" y="-15240"/>
            <a:ext cx="5450205" cy="8299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Object Oriented Programming using Java (CSET-109)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7153" y="4200056"/>
            <a:ext cx="6033247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/>
              <a:t>Presented By:</a:t>
            </a:r>
            <a:br>
              <a:rPr lang="en-IN" sz="2400" b="1" dirty="0"/>
            </a:br>
            <a:r>
              <a:rPr lang="en-IN" sz="2400" dirty="0"/>
              <a:t>1. </a:t>
            </a:r>
            <a:r>
              <a:rPr lang="en-US" altLang="en-IN" sz="2400" dirty="0"/>
              <a:t>Madhav Puri</a:t>
            </a:r>
            <a:r>
              <a:rPr lang="en-IN" sz="2400" dirty="0"/>
              <a:t>, Enrol No</a:t>
            </a:r>
            <a:r>
              <a:rPr lang="en-US" altLang="en-IN" sz="2400" dirty="0"/>
              <a:t>. S24CSEU0211</a:t>
            </a:r>
            <a:endParaRPr lang="en-IN" sz="2400" dirty="0"/>
          </a:p>
          <a:p>
            <a:pPr algn="r"/>
            <a:r>
              <a:rPr lang="en-IN" sz="2400" dirty="0"/>
              <a:t>2. </a:t>
            </a:r>
            <a:r>
              <a:rPr lang="en-US" altLang="en-IN" sz="2400" dirty="0"/>
              <a:t>Madhav Goyal</a:t>
            </a:r>
            <a:r>
              <a:rPr lang="en-IN" sz="2400" dirty="0"/>
              <a:t>, Enrol No</a:t>
            </a:r>
            <a:r>
              <a:rPr lang="en-US" altLang="en-IN" sz="2400" dirty="0"/>
              <a:t>. S24CSEU0212</a:t>
            </a:r>
            <a:r>
              <a:rPr lang="en-IN" sz="2400" dirty="0"/>
              <a:t> </a:t>
            </a:r>
          </a:p>
          <a:p>
            <a:pPr algn="r"/>
            <a:r>
              <a:rPr lang="en-IN" sz="2400" dirty="0"/>
              <a:t>3. </a:t>
            </a:r>
            <a:r>
              <a:rPr lang="en-US" altLang="en-IN" sz="2400" dirty="0"/>
              <a:t>Mrigank Bhatnagar</a:t>
            </a:r>
            <a:r>
              <a:rPr lang="en-IN" sz="2400" dirty="0"/>
              <a:t>, Enrol No. </a:t>
            </a:r>
            <a:r>
              <a:rPr lang="en-US" sz="2400" dirty="0"/>
              <a:t>S</a:t>
            </a:r>
            <a:r>
              <a:rPr lang="en-US" altLang="en-IN" sz="2400" dirty="0"/>
              <a:t>24CSEU0343</a:t>
            </a:r>
            <a:endParaRPr lang="en-IN" sz="2400" dirty="0"/>
          </a:p>
          <a:p>
            <a:pPr algn="r"/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666365" y="2061210"/>
            <a:ext cx="5711825" cy="14922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en-IN" sz="4000" b="1" dirty="0">
                <a:solidFill>
                  <a:srgbClr val="C00000"/>
                </a:solidFill>
              </a:rPr>
              <a:t>Library Managment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131" y="4200056"/>
            <a:ext cx="395343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Submitted To:</a:t>
            </a:r>
            <a:br>
              <a:rPr lang="en-IN" sz="2400" b="1" dirty="0"/>
            </a:br>
            <a:r>
              <a:rPr lang="en-US" altLang="en-IN" sz="2400" dirty="0"/>
              <a:t>Dr.Sushmita Das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Project description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Box 6"/>
          <p:cNvSpPr txBox="1"/>
          <p:nvPr/>
        </p:nvSpPr>
        <p:spPr>
          <a:xfrm>
            <a:off x="985520" y="1071880"/>
            <a:ext cx="9204325" cy="4195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/>
          </a:p>
          <a:p>
            <a:r>
              <a:rPr lang="en-US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Overview</a:t>
            </a:r>
          </a:p>
          <a:p>
            <a:r>
              <a:rPr lang="en-US" altLang="en-US" sz="2000"/>
              <a:t>	•	A desktop application to manage library operations efficiently.</a:t>
            </a:r>
          </a:p>
          <a:p>
            <a:r>
              <a:rPr lang="en-US" altLang="en-US" sz="2000"/>
              <a:t>	•	Built with Java and JavaFX for a smooth GUI experience.</a:t>
            </a:r>
          </a:p>
          <a:p>
            <a:endParaRPr lang="en-US" altLang="en-US" sz="2000"/>
          </a:p>
          <a:p>
            <a:r>
              <a:rPr lang="en-US" altLang="en-US" sz="2000" b="1"/>
              <a:t>Key Features</a:t>
            </a:r>
          </a:p>
          <a:p>
            <a:r>
              <a:rPr lang="en-US" altLang="en-US" sz="2000"/>
              <a:t>	•	Add, update, delete, and search books.</a:t>
            </a:r>
          </a:p>
          <a:p>
            <a:r>
              <a:rPr lang="en-US" altLang="en-US" sz="2000"/>
              <a:t>	•	Manage member registrations and profiles.</a:t>
            </a:r>
          </a:p>
          <a:p>
            <a:r>
              <a:rPr lang="en-US" altLang="en-US" sz="2000"/>
              <a:t>	•	Issue and return books with transaction tracking.</a:t>
            </a:r>
          </a:p>
          <a:p>
            <a:r>
              <a:rPr lang="en-US" altLang="en-US" sz="2000"/>
              <a:t>	•	Simple, user-friendly graphical interface.</a:t>
            </a:r>
          </a:p>
          <a:p>
            <a:r>
              <a:rPr lang="en-US" altLang="en-US" sz="2000"/>
              <a:t>	•	Proper validation and error handling.</a:t>
            </a:r>
          </a:p>
          <a:p>
            <a:endParaRPr lang="en-US" altLang="en-US" sz="2000"/>
          </a:p>
          <a:p>
            <a:r>
              <a:rPr lang="en-US" altLang="en-US" sz="2000" b="1"/>
              <a:t>Technology Stack</a:t>
            </a:r>
          </a:p>
          <a:p>
            <a:r>
              <a:rPr lang="en-US" altLang="en-US" sz="2000"/>
              <a:t>	•	Java, JavaFX</a:t>
            </a:r>
          </a:p>
          <a:p>
            <a:r>
              <a:rPr lang="en-US" altLang="en-US" sz="2000"/>
              <a:t>	•	Eclipse/ Visual Studio Code</a:t>
            </a:r>
          </a:p>
          <a:p>
            <a:r>
              <a:rPr lang="en-US" altLang="en-US" sz="2000"/>
              <a:t>	•	JavaFX SDK 21</a:t>
            </a:r>
          </a:p>
          <a:p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Project description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1142365" y="1201420"/>
            <a:ext cx="9439910" cy="4822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en-US"/>
          </a:p>
          <a:p>
            <a:r>
              <a:rPr lang="en-US" altLang="en-US" sz="2000" b="1"/>
              <a:t>Modules</a:t>
            </a:r>
          </a:p>
          <a:p>
            <a:r>
              <a:rPr lang="en-US" altLang="en-US"/>
              <a:t>	•	Admin Module: Manages books, members, transactions.</a:t>
            </a:r>
          </a:p>
          <a:p>
            <a:r>
              <a:rPr lang="en-US" altLang="en-US"/>
              <a:t>	•	Book Module: CRUD operations (Create, Read, Update, Delete) for books.</a:t>
            </a:r>
          </a:p>
          <a:p>
            <a:r>
              <a:rPr lang="en-US" altLang="en-US"/>
              <a:t>	•	Member Module: Manage library users.</a:t>
            </a:r>
          </a:p>
          <a:p>
            <a:r>
              <a:rPr lang="en-US" altLang="en-US"/>
              <a:t>	•	Transaction Module: Issue and return books, maintain history.</a:t>
            </a:r>
          </a:p>
          <a:p>
            <a:endParaRPr lang="en-US" altLang="en-US"/>
          </a:p>
          <a:p>
            <a:r>
              <a:rPr lang="en-US" altLang="en-US" sz="2000" b="1"/>
              <a:t>Future Scope</a:t>
            </a:r>
          </a:p>
          <a:p>
            <a:r>
              <a:rPr lang="en-US" altLang="en-US"/>
              <a:t>	•	Add user roles: Admin, Librarian, Member.</a:t>
            </a:r>
          </a:p>
          <a:p>
            <a:r>
              <a:rPr lang="en-US" altLang="en-US"/>
              <a:t>	•	Online access and cloud synchronization.</a:t>
            </a:r>
          </a:p>
          <a:p>
            <a:r>
              <a:rPr lang="en-US" altLang="en-US"/>
              <a:t>	•	Analytics dashboard with monthly reports.</a:t>
            </a:r>
          </a:p>
          <a:p>
            <a:r>
              <a:rPr lang="en-US" altLang="en-US"/>
              <a:t>	•	Expand to mobile app version.</a:t>
            </a:r>
          </a:p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Solution approach 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1094740" y="1366520"/>
            <a:ext cx="9436735" cy="4397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ct val="60000"/>
              </a:spcAft>
            </a:pPr>
            <a:r>
              <a:rPr sz="2300" b="1">
                <a:sym typeface="+mn-ea"/>
              </a:rPr>
              <a:t>How We Built the LBMS</a:t>
            </a:r>
            <a:endParaRPr sz="2300" b="1"/>
          </a:p>
          <a:p>
            <a:pPr>
              <a:buFont typeface="Arial" panose="020B0604020202090204"/>
              <a:buChar char="•"/>
            </a:pPr>
            <a:r>
              <a:rPr sz="2000" b="1">
                <a:sym typeface="+mn-ea"/>
              </a:rPr>
              <a:t>Feature Planning</a:t>
            </a:r>
            <a:r>
              <a:rPr sz="2000">
                <a:sym typeface="+mn-ea"/>
              </a:rPr>
              <a:t>: Identified core functions — managing books, members, and transactions.</a:t>
            </a:r>
            <a:endParaRPr sz="2000"/>
          </a:p>
          <a:p>
            <a:pPr>
              <a:buFont typeface="Arial" panose="020B0604020202090204"/>
              <a:buChar char="•"/>
            </a:pPr>
            <a:endParaRPr sz="2000"/>
          </a:p>
          <a:p>
            <a:pPr>
              <a:buFont typeface="Arial" panose="020B0604020202090204"/>
              <a:buChar char="•"/>
            </a:pPr>
            <a:r>
              <a:rPr sz="2000" b="1">
                <a:sym typeface="+mn-ea"/>
              </a:rPr>
              <a:t>System Design</a:t>
            </a:r>
            <a:r>
              <a:rPr sz="2000">
                <a:sym typeface="+mn-ea"/>
              </a:rPr>
              <a:t>: Designed a modular structure with a user-friendly JavaFX interface.</a:t>
            </a:r>
            <a:endParaRPr sz="2000"/>
          </a:p>
          <a:p>
            <a:pPr>
              <a:buFont typeface="Arial" panose="020B0604020202090204"/>
              <a:buChar char="•"/>
            </a:pPr>
            <a:endParaRPr sz="2000"/>
          </a:p>
          <a:p>
            <a:pPr>
              <a:buFont typeface="Arial" panose="020B0604020202090204"/>
              <a:buChar char="•"/>
            </a:pPr>
            <a:r>
              <a:rPr sz="2000" b="1">
                <a:sym typeface="+mn-ea"/>
              </a:rPr>
              <a:t>Implementation</a:t>
            </a:r>
            <a:r>
              <a:rPr sz="2000">
                <a:sym typeface="+mn-ea"/>
              </a:rPr>
              <a:t>: Developed backend logic and connected it seamlessly with the frontend.</a:t>
            </a:r>
            <a:endParaRPr sz="2000"/>
          </a:p>
          <a:p>
            <a:pPr>
              <a:buFont typeface="Arial" panose="020B0604020202090204"/>
              <a:buChar char="•"/>
            </a:pPr>
            <a:endParaRPr sz="2000"/>
          </a:p>
          <a:p>
            <a:pPr>
              <a:buFont typeface="Arial" panose="020B0604020202090204"/>
              <a:buChar char="•"/>
            </a:pPr>
            <a:r>
              <a:rPr sz="2000" b="1">
                <a:sym typeface="+mn-ea"/>
              </a:rPr>
              <a:t>Testing</a:t>
            </a:r>
            <a:r>
              <a:rPr sz="2000">
                <a:sym typeface="+mn-ea"/>
              </a:rPr>
              <a:t>: Conducted thorough testing to ensure reliability and smooth user experience.</a:t>
            </a:r>
            <a:endParaRPr sz="2000"/>
          </a:p>
          <a:p>
            <a:pPr>
              <a:buFont typeface="Arial" panose="020B0604020202090204"/>
              <a:buChar char="•"/>
            </a:pPr>
            <a:endParaRPr sz="2000"/>
          </a:p>
          <a:p>
            <a:pPr>
              <a:buFont typeface="Arial" panose="020B0604020202090204"/>
              <a:buChar char="•"/>
            </a:pPr>
            <a:r>
              <a:rPr sz="2000" b="1">
                <a:sym typeface="+mn-ea"/>
              </a:rPr>
              <a:t>Scalability Planning</a:t>
            </a:r>
            <a:r>
              <a:rPr sz="2000">
                <a:sym typeface="+mn-ea"/>
              </a:rPr>
              <a:t>: Structured the system for easy integration with databases and future upgrades.</a:t>
            </a:r>
            <a:endParaRPr lang="en-US" sz="20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Individual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1400810" y="1031875"/>
            <a:ext cx="8634095" cy="393128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sz="2000" b="1" dirty="0"/>
              <a:t>Mrigank Bhatnagar</a:t>
            </a:r>
            <a:endParaRPr sz="2000" b="1" dirty="0"/>
          </a:p>
          <a:p>
            <a:pPr>
              <a:buFont typeface="Arial" panose="020B0604020202090204"/>
              <a:buChar char="•"/>
            </a:pPr>
            <a:r>
              <a:rPr sz="2000" dirty="0"/>
              <a:t>Focused on </a:t>
            </a:r>
            <a:r>
              <a:rPr sz="2000" b="1" dirty="0"/>
              <a:t>backend development</a:t>
            </a:r>
            <a:r>
              <a:rPr sz="2000" dirty="0"/>
              <a:t> — coding the logic for book management and member registration.</a:t>
            </a:r>
          </a:p>
          <a:p>
            <a:pPr>
              <a:buFont typeface="Arial" panose="020B0604020202090204"/>
              <a:buChar char="•"/>
            </a:pPr>
            <a:endParaRPr sz="2000" dirty="0"/>
          </a:p>
          <a:p>
            <a:pPr>
              <a:buFont typeface="Arial" panose="020B0604020202090204"/>
              <a:buChar char="•"/>
            </a:pPr>
            <a:r>
              <a:rPr sz="2000" dirty="0"/>
              <a:t>Contributed to </a:t>
            </a:r>
            <a:r>
              <a:rPr sz="2000" b="1" dirty="0"/>
              <a:t>testing</a:t>
            </a:r>
            <a:r>
              <a:rPr sz="2000" dirty="0"/>
              <a:t> and </a:t>
            </a:r>
            <a:r>
              <a:rPr sz="2000" b="1" dirty="0"/>
              <a:t>debugging</a:t>
            </a:r>
            <a:r>
              <a:rPr sz="2000" dirty="0"/>
              <a:t> of core functionalities.</a:t>
            </a:r>
          </a:p>
          <a:p>
            <a:pPr>
              <a:buFont typeface="Arial" panose="020B0604020202090204"/>
              <a:buChar char="•"/>
            </a:pPr>
            <a:endParaRPr sz="2000" dirty="0"/>
          </a:p>
          <a:p>
            <a:pPr>
              <a:spcAft>
                <a:spcPct val="60000"/>
              </a:spcAft>
            </a:pPr>
            <a:r>
              <a:rPr lang="en-US" sz="2000" b="1" dirty="0"/>
              <a:t>Madhav Goyal</a:t>
            </a:r>
            <a:endParaRPr sz="2000" b="1" dirty="0"/>
          </a:p>
          <a:p>
            <a:pPr>
              <a:buFont typeface="Arial" panose="020B0604020202090204"/>
              <a:buChar char="•"/>
            </a:pPr>
            <a:r>
              <a:rPr sz="2000" dirty="0"/>
              <a:t>Led the </a:t>
            </a:r>
            <a:r>
              <a:rPr sz="2000" b="1" dirty="0"/>
              <a:t>UI design</a:t>
            </a:r>
            <a:r>
              <a:rPr sz="2000" dirty="0"/>
              <a:t> with JavaFX to ensure a smooth and intuitive user experience.</a:t>
            </a:r>
            <a:endParaRPr lang="en-US" sz="2000" dirty="0"/>
          </a:p>
          <a:p>
            <a:pPr>
              <a:buFont typeface="Arial" panose="020B0604020202090204"/>
              <a:buChar char="•"/>
            </a:pPr>
            <a:endParaRPr lang="en-US" sz="2000" dirty="0"/>
          </a:p>
          <a:p>
            <a:pPr>
              <a:buFont typeface="Arial" panose="020B0604020202090204"/>
              <a:buChar char="•"/>
            </a:pPr>
            <a:r>
              <a:rPr lang="en-US" sz="2000" dirty="0"/>
              <a:t> Designed the complete working algorithm for the program and implemented </a:t>
            </a:r>
            <a:r>
              <a:rPr lang="en-US" sz="2000" b="1" dirty="0"/>
              <a:t>file serialization</a:t>
            </a:r>
            <a:r>
              <a:rPr lang="en-US" sz="2000" dirty="0"/>
              <a:t> for efficient </a:t>
            </a:r>
            <a:r>
              <a:rPr lang="en-US" sz="2000" b="1" dirty="0"/>
              <a:t>data structure manipulation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>
              <a:spcAft>
                <a:spcPct val="60000"/>
              </a:spcAft>
            </a:pPr>
            <a:r>
              <a:rPr sz="2000" b="1" dirty="0"/>
              <a:t>Madhav Puri</a:t>
            </a:r>
          </a:p>
          <a:p>
            <a:pPr>
              <a:buFont typeface="Arial" panose="020B0604020202090204"/>
              <a:buChar char="•"/>
            </a:pPr>
            <a:r>
              <a:rPr sz="2000" dirty="0"/>
              <a:t>Designed the overall </a:t>
            </a:r>
            <a:r>
              <a:rPr sz="2000" b="1" dirty="0"/>
              <a:t>system architecture</a:t>
            </a:r>
            <a:r>
              <a:rPr sz="2000" dirty="0"/>
              <a:t> and flow of the application.</a:t>
            </a:r>
          </a:p>
          <a:p>
            <a:pPr>
              <a:buFont typeface="Arial" panose="020B0604020202090204"/>
              <a:buChar char="•"/>
            </a:pPr>
            <a:endParaRPr sz="2000" dirty="0"/>
          </a:p>
          <a:p>
            <a:pPr>
              <a:buFont typeface="Arial" panose="020B0604020202090204"/>
              <a:buChar char="•"/>
            </a:pPr>
            <a:r>
              <a:rPr sz="2000" dirty="0"/>
              <a:t>Contributed to </a:t>
            </a:r>
            <a:r>
              <a:rPr sz="2000" b="1" dirty="0"/>
              <a:t>frontend development</a:t>
            </a:r>
            <a:r>
              <a:rPr sz="2000" dirty="0"/>
              <a:t> and prepared the </a:t>
            </a:r>
            <a:r>
              <a:rPr sz="2000" b="1" dirty="0"/>
              <a:t>project PPT</a:t>
            </a:r>
            <a:r>
              <a:rPr sz="2000" dirty="0"/>
              <a:t> and </a:t>
            </a:r>
            <a:r>
              <a:rPr sz="2000" b="1" dirty="0"/>
              <a:t>report</a:t>
            </a:r>
            <a:r>
              <a:rPr sz="20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953135" y="943610"/>
            <a:ext cx="9338310" cy="21761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2400" b="1"/>
              <a:t>Real-World Applications of LBMS</a:t>
            </a:r>
          </a:p>
          <a:p>
            <a:pPr>
              <a:spcAft>
                <a:spcPct val="60000"/>
              </a:spcAft>
            </a:pPr>
            <a:r>
              <a:rPr lang="en-US" altLang="en-US" sz="2000"/>
              <a:t>	1.</a:t>
            </a:r>
            <a:r>
              <a:rPr lang="en-US" altLang="en-US" sz="2000" b="1"/>
              <a:t>Library Automation</a:t>
            </a:r>
            <a:r>
              <a:rPr lang="en-US" altLang="en-US" sz="2000"/>
              <a:t>: Automates library operations like book issue/return, member registration, and inventory management, reducing human effort and errors.</a:t>
            </a:r>
          </a:p>
          <a:p>
            <a:pPr>
              <a:spcAft>
                <a:spcPct val="60000"/>
              </a:spcAft>
            </a:pPr>
            <a:r>
              <a:rPr lang="en-US" altLang="en-US" sz="2000"/>
              <a:t>	2.</a:t>
            </a:r>
            <a:r>
              <a:rPr lang="en-US" altLang="en-US" sz="2000" b="1"/>
              <a:t>Educational Institutions</a:t>
            </a:r>
            <a:r>
              <a:rPr lang="en-US" altLang="en-US" sz="2000"/>
              <a:t>: Perfect for schools, colleges, and universities to efficiently manage their library resources and keep track of student activity.</a:t>
            </a:r>
          </a:p>
          <a:p>
            <a:pPr>
              <a:spcAft>
                <a:spcPct val="60000"/>
              </a:spcAft>
            </a:pPr>
            <a:r>
              <a:rPr lang="en-US" altLang="en-US" sz="2000"/>
              <a:t>	3.</a:t>
            </a:r>
            <a:r>
              <a:rPr lang="en-US" altLang="en-US" sz="2000" b="1"/>
              <a:t>Public Libraries</a:t>
            </a:r>
            <a:r>
              <a:rPr lang="en-US" altLang="en-US" sz="2000"/>
              <a:t>: Provides a scalable solution for public libraries to handle large volumes of books and members.</a:t>
            </a:r>
          </a:p>
          <a:p>
            <a:pPr>
              <a:spcAft>
                <a:spcPct val="60000"/>
              </a:spcAft>
            </a:pPr>
            <a:r>
              <a:rPr lang="en-US" altLang="en-US" sz="2000"/>
              <a:t>	4.</a:t>
            </a:r>
            <a:r>
              <a:rPr lang="en-US" altLang="en-US" sz="2000" b="1"/>
              <a:t>Corporate Libraries</a:t>
            </a:r>
            <a:r>
              <a:rPr lang="en-US" altLang="en-US" sz="2000"/>
              <a:t>: Useful for organizations maintaining internal libraries, ensuring easy tracking of resources used by employees.</a:t>
            </a:r>
          </a:p>
          <a:p>
            <a:pPr>
              <a:spcAft>
                <a:spcPct val="60000"/>
              </a:spcAft>
            </a:pPr>
            <a:r>
              <a:rPr lang="en-US" altLang="en-US" sz="2000"/>
              <a:t>	5.</a:t>
            </a:r>
            <a:r>
              <a:rPr lang="en-US" altLang="en-US" sz="2000" b="1"/>
              <a:t>Future Scalability</a:t>
            </a:r>
            <a:r>
              <a:rPr lang="en-US" altLang="en-US" sz="2000"/>
              <a:t>: Can be extended to integrate online access, mobile apps, or cloud-based storage for remote access.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1760855" y="1120140"/>
            <a:ext cx="7543165" cy="163639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2400" b="1" dirty="0"/>
              <a:t>Resources Used</a:t>
            </a:r>
          </a:p>
          <a:p>
            <a:pPr>
              <a:spcAft>
                <a:spcPct val="60000"/>
              </a:spcAft>
            </a:pPr>
            <a:r>
              <a:rPr lang="en-US" altLang="en-US" sz="2000" dirty="0"/>
              <a:t>	•</a:t>
            </a:r>
            <a:r>
              <a:rPr lang="en-US" altLang="en-US" sz="2000" b="1" dirty="0"/>
              <a:t>Oracle JavaFX Documentation</a:t>
            </a:r>
            <a:r>
              <a:rPr lang="en-US" altLang="en-US" sz="2000" dirty="0"/>
              <a:t> :https://openjfx.io/</a:t>
            </a:r>
          </a:p>
          <a:p>
            <a:pPr>
              <a:spcAft>
                <a:spcPct val="60000"/>
              </a:spcAft>
            </a:pPr>
            <a:r>
              <a:rPr lang="en-US" altLang="en-US" sz="2000" dirty="0"/>
              <a:t>	•</a:t>
            </a:r>
            <a:r>
              <a:rPr lang="en-US" altLang="en-US" sz="2000" b="1" dirty="0"/>
              <a:t>Java Tutorials</a:t>
            </a:r>
            <a:r>
              <a:rPr lang="en-US" altLang="en-US" sz="2000" dirty="0"/>
              <a:t> - Oracle - https://docs.oracle.com/javase/tutorial/</a:t>
            </a:r>
          </a:p>
          <a:p>
            <a:pPr>
              <a:spcAft>
                <a:spcPct val="60000"/>
              </a:spcAft>
            </a:pPr>
            <a:r>
              <a:rPr lang="en-US" altLang="en-US" sz="2000" dirty="0"/>
              <a:t>	•</a:t>
            </a:r>
            <a:r>
              <a:rPr lang="en-US" altLang="en-US" sz="2000" b="1" dirty="0"/>
              <a:t>Stack Overflow-</a:t>
            </a:r>
            <a:r>
              <a:rPr lang="en-US" altLang="en-US" sz="2000" dirty="0"/>
              <a:t>For troubleshooting coding issues and best practices.</a:t>
            </a:r>
          </a:p>
          <a:p>
            <a:pPr>
              <a:spcAft>
                <a:spcPct val="60000"/>
              </a:spcAft>
            </a:pPr>
            <a:r>
              <a:rPr lang="en-US" altLang="en-US" sz="2000" dirty="0"/>
              <a:t>	•</a:t>
            </a:r>
            <a:r>
              <a:rPr lang="en-US" altLang="en-US" sz="2000" b="1" dirty="0"/>
              <a:t>YouTube Tutorials- </a:t>
            </a:r>
            <a:r>
              <a:rPr lang="en-US" altLang="en-US" sz="2000" dirty="0"/>
              <a:t>For JavaFX UI design basics and event handling.</a:t>
            </a:r>
          </a:p>
          <a:p>
            <a:pPr>
              <a:spcAft>
                <a:spcPct val="60000"/>
              </a:spcAft>
            </a:pPr>
            <a:r>
              <a:rPr lang="en-US" altLang="en-US" sz="2000" dirty="0"/>
              <a:t>	•</a:t>
            </a:r>
            <a:r>
              <a:rPr lang="en-US" altLang="en-US" sz="2000" b="1" dirty="0"/>
              <a:t>Official Java Documentation-</a:t>
            </a:r>
            <a:r>
              <a:rPr lang="en-US" altLang="en-US" sz="2000" dirty="0"/>
              <a:t>https://docs.oracle.com/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/java/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5C88-FD2A-5721-7EE1-85526DB18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215680-3508-8AA0-E9CA-F40D502B6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21B981-E0E7-AB1E-0D53-5185D61C6263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49FF53A-5F82-CC58-A082-DCDE32DB0BE9}"/>
              </a:ext>
            </a:extLst>
          </p:cNvPr>
          <p:cNvSpPr txBox="1"/>
          <p:nvPr/>
        </p:nvSpPr>
        <p:spPr>
          <a:xfrm>
            <a:off x="2759177" y="2701412"/>
            <a:ext cx="5911645" cy="145517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en-US" sz="9600" b="1" dirty="0"/>
              <a:t>Thank You!</a:t>
            </a:r>
            <a:endParaRPr lang="en-US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850527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Name="Document" ma:contentTypeDescription="Create a new document." ma:contentTypeVersion="8" ma:contentTypeID="0x01010069C92F430564EF4D984C4A50052D1AF6" ma:contentTypeScope="" ma:versionID="8ea2e7608f469c9e254f81e35472f47d" ct:_="" ma:_="">
  <xsd:schema xmlns:ns2="0fbc9270-0da3-4309-bbac-5b4c8771e74b" xmlns:ns3="ab30937d-86ce-40fb-8648-9463b070ea83" xmlns:xsd="http://www.w3.org/2001/XMLSchema" xmlns:xs="http://www.w3.org/2001/XMLSchema" xmlns:p="http://schemas.microsoft.com/office/2006/metadata/properties" ma:root="true" ns2:_="" targetNamespace="http://schemas.microsoft.com/office/2006/metadata/properties" ns3:_="" ma:fieldsID="c5e28a6ccad94107522dd8297a35fb96">
    <xsd:import namespace="0fbc9270-0da3-4309-bbac-5b4c8771e74b"/>
    <xsd:import namespace="ab30937d-86ce-40fb-8648-9463b070ea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0fbc9270-0da3-4309-bbac-5b4c8771e74b" elementFormDefault="qualified">
    <xsd:import namespace="http://schemas.microsoft.com/office/2006/documentManagement/types"/>
    <xsd:import namespace="http://schemas.microsoft.com/office/infopath/2007/PartnerControls"/>
    <xsd:element nillable="true" ma:displayName="MediaServiceMetadata" ma:index="8" ma:hidden="true" name="MediaServiceMetadata" ma:readOnly="true" ma:internalName="MediaServiceMetadata">
      <xsd:simpleType>
        <xsd:restriction base="dms:Note"/>
      </xsd:simpleType>
    </xsd:element>
    <xsd:element nillable="true" ma:displayName="MediaServiceFastMetadata" ma:index="9" ma:hidden="true" name="MediaServiceFastMetadata" ma:readOnly="true" ma:internalName="MediaServiceFastMetadata">
      <xsd:simpleType>
        <xsd:restriction base="dms:Note"/>
      </xsd:simpleType>
    </xsd:element>
    <xsd:element nillable="true" ma:displayName="MediaServiceDateTaken" ma:index="12" ma:hidden="true" name="MediaServiceDateTaken" ma:readOnly="true" ma:internalName="MediaServiceDateTaken">
      <xsd:simpleType>
        <xsd:restriction base="dms:Text"/>
      </xsd:simpleType>
    </xsd:element>
    <xsd:element nillable="true" ma:displayName="MediaLengthInSeconds" ma:index="13" ma:hidden="true" name="MediaLengthInSeconds" ma:readOnly="true" ma:internalName="MediaLengthInSeconds">
      <xsd:simpleType>
        <xsd:restriction base="dms:Unknown"/>
      </xsd:simpleType>
    </xsd:element>
    <xsd:element nillable="true" ma:displayName="MediaServiceAutoKeyPoints" ma:index="14" ma:hidden="true" name="MediaServiceAutoKeyPoints" ma:readOnly="true" ma:internalName="MediaServiceAutoKeyPoints">
      <xsd:simpleType>
        <xsd:restriction base="dms:Note"/>
      </xsd:simpleType>
    </xsd:element>
    <xsd:element nillable="true" ma:displayName="KeyPoints" ma:index="15" name="MediaServiceKeyPoints" ma:readOnly="true" ma:internalName="MediaServiceKeyPoints">
      <xsd:simpleType>
        <xsd:restriction base="dms:Note">
          <xsd:maxLength value="255"/>
        </xsd:restriction>
      </xsd:simpleType>
    </xsd:element>
  </xsd:schema>
  <xsd:schema xmlns:pc="http://schemas.microsoft.com/office/infopath/2007/PartnerControls" xmlns:xsd="http://www.w3.org/2001/XMLSchema" xmlns:xs="http://www.w3.org/2001/XMLSchema" xmlns:dms="http://schemas.microsoft.com/office/2006/documentManagement/types" targetNamespace="ab30937d-86ce-40fb-8648-9463b070ea83" elementFormDefault="qualified">
    <xsd:import namespace="http://schemas.microsoft.com/office/2006/documentManagement/types"/>
    <xsd:import namespace="http://schemas.microsoft.com/office/infopath/2007/PartnerControls"/>
    <xsd:element nillable="true" ma:displayName="Shared With" ma:index="10" name="SharedWithUsers" ma:readOnly="true" ma:internalName="SharedWithUsers">
      <xsd:complexType>
        <xsd:complexContent>
          <xsd:extension base="dms:UserMulti">
            <xsd:sequence>
              <xsd:element maxOccurs="unbounded" name="UserInfo" minOccurs="0">
                <xsd:complexType>
                  <xsd:sequence>
                    <xsd:element type="xsd:string" name="DisplayName" minOccurs="0"/>
                    <xsd:element nillable="true" type="dms:UserId" name="AccountId" minOccurs="0"/>
                    <xsd:element type="xsd:string" name="AccountType" minOccurs="0"/>
                  </xsd:sequence>
                </xsd:complexType>
              </xsd:element>
            </xsd:sequence>
          </xsd:extension>
        </xsd:complexContent>
      </xsd:complexType>
    </xsd:element>
    <xsd:element nillable="true" ma:displayName="Shared With Details" ma:index="11" name="SharedWithDetails" ma:readOnly="true" ma:internalName="SharedWithDetails">
      <xsd:simpleType>
        <xsd:restriction base="dms:Note">
          <xsd:maxLength value="255"/>
        </xsd:restriction>
      </xsd:simpleType>
    </xsd:element>
  </xsd:schema>
  <xsd:schema xmlns:dcterms="http://purl.org/dc/terms/" xmlns:dc="http://purl.org/dc/elements/1.1/" xmlns:xsd="http://www.w3.org/2001/XMLSchema" xmlns:odoc="http://schemas.microsoft.com/internal/obd" xmlns:xsi="http://www.w3.org/2001/XMLSchema-instance" xmlns="http://schemas.openxmlformats.org/package/2006/metadata/core-properties" blockDefault="#all" targetNamespace="http://schemas.openxmlformats.org/package/2006/metadata/core-properties" attributeFormDefault="unqualified" elementFormDefault="qualified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type="CT_coreProperties" name="coreProperties"/>
    <xsd:complexType name="CT_coreProperties">
      <xsd:all>
        <xsd:element ref="dc:creator" maxOccurs="1" minOccurs="0"/>
        <xsd:element ref="dcterms:created" maxOccurs="1" minOccurs="0"/>
        <xsd:element ref="dc:identifier" maxOccurs="1" minOccurs="0"/>
        <xsd:element ma:displayName="Content Type" ma:index="0" type="xsd:string" maxOccurs="1" name="contentType" minOccurs="0"/>
        <xsd:element ma:displayName="Title" ma:index="4" ref="dc:title" maxOccurs="1" minOccurs="0"/>
        <xsd:element ref="dc:subject" maxOccurs="1" minOccurs="0"/>
        <xsd:element ref="dc:description" maxOccurs="1" minOccurs="0"/>
        <xsd:element type="xsd:string" maxOccurs="1" name="keywords" minOccurs="0"/>
        <xsd:element ref="dc:language" maxOccurs="1" minOccurs="0"/>
        <xsd:element type="xsd:string" maxOccurs="1" name="category" minOccurs="0"/>
        <xsd:element type="xsd:string" maxOccurs="1" name="version" minOccurs="0"/>
        <xsd:element type="xsd:string" maxOccurs="1" name="revision" minOccurs="0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type="xsd:string" maxOccurs="1" name="lastModifiedBy" minOccurs="0"/>
        <xsd:element ref="dcterms:modified" maxOccurs="1" minOccurs="0"/>
        <xsd:element type="xsd:string" maxOccurs="1" name="contentStatus" minOccurs="0"/>
      </xsd:all>
    </xsd:complexType>
  </xsd:schema>
  <xs:schema xmlns:pc="http://schemas.microsoft.com/office/infopath/2007/PartnerControls" xmlns:xs="http://www.w3.org/2001/XMLSchema" targetNamespace="http://schemas.microsoft.com/office/infopath/2007/PartnerControls" attributeFormDefault="unqualified" elementFormDefault="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type="xs:string" name="DisplayName"/>
    <xs:element type="xs:string" name="AccountId"/>
    <xs:element type="xs:string" name="AccountType"/>
    <xs:element name="BDCAssociatedEntity">
      <xs:complexType>
        <xs:sequence>
          <xs:element ref="pc:BDCEntity" maxOccurs="unbounded" minOccurs="0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type="xs:string" name="EntityNamespace"/>
    <xs:attribute type="xs:string" name="EntityName"/>
    <xs:attribute type="xs:string" name="SystemInstanceName"/>
    <xs:attribute type="xs:string" name="AssociationName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type="xs:string" name="EntityDisplayName"/>
    <xs:element type="xs:string" name="EntityInstanceReference"/>
    <xs:element type="xs:string" name="EntityId1"/>
    <xs:element type="xs:string" name="EntityId2"/>
    <xs:element type="xs:string" name="EntityId3"/>
    <xs:element type="xs:string" name="EntityId4"/>
    <xs:element type="xs:string" name="EntityId5"/>
    <xs:element name="Terms">
      <xs:complexType>
        <xs:sequence>
          <xs:element ref="pc:TermInfo" maxOccurs="unbounded" minOccurs="0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type="xs:string" name="TermName"/>
    <xs:element type="xs:string" name="TermId"/>
  </xs:schema>
</ct:contentTypeSchema>
</file>

<file path=customXml/item2.xml><?xml version="1.0" encoding="utf-8"?>
<p:properties xmlns:pc="http://schemas.microsoft.com/office/infopath/2007/PartnerControls" xmlns:xsi="http://www.w3.org/2001/XMLSchema-instance" xmlns:p="http://schemas.microsoft.com/office/2006/metadata/propertie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8C4E62-7774-425A-95A0-8B6255321F20}">
  <ds:schemaRefs/>
</ds:datastoreItem>
</file>

<file path=customXml/itemProps2.xml><?xml version="1.0" encoding="utf-8"?>
<ds:datastoreItem xmlns:ds="http://schemas.openxmlformats.org/officeDocument/2006/customXml" ds:itemID="{A5FE9CAB-38C7-4334-BAE1-D9EA537FF66A}">
  <ds:schemaRefs/>
</ds:datastoreItem>
</file>

<file path=customXml/itemProps3.xml><?xml version="1.0" encoding="utf-8"?>
<ds:datastoreItem xmlns:ds="http://schemas.openxmlformats.org/officeDocument/2006/customXml" ds:itemID="{1B1FE39E-575E-4327-9668-9F25DDF93C2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634</Words>
  <Application>Microsoft Office PowerPoint</Application>
  <PresentationFormat>Custom</PresentationFormat>
  <Paragraphs>85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Madhav Goyal</dc:creator>
  <cp:lastModifiedBy>Madhav Goyal</cp:lastModifiedBy>
  <cp:revision>31</cp:revision>
  <dcterms:created xsi:type="dcterms:W3CDTF">2025-04-28T19:12:58Z</dcterms:created>
  <dcterms:modified xsi:type="dcterms:W3CDTF">2025-04-30T04:50:35Z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0x01010069C92F430564EF4D984C4A50052D1AF6</vt:lpwstr>
  </property>
  <property fmtid="{D5CDD505-2E9C-101B-9397-08002B2CF9AE}" pid="3" name="ICV">
    <vt:lpwstr>81CED641ECCE921B3AD30F68CD26C951_43</vt:lpwstr>
  </property>
  <property fmtid="{D5CDD505-2E9C-101B-9397-08002B2CF9AE}" pid="4" name="KSOProductBuildVer">
    <vt:lpwstr>1033-6.12.2.8699</vt:lpwstr>
  </property>
</Properties>
</file>